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RESEARCH UPDATE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B1E2A"/>
                </a:solidFill>
                <a:latin typeface="Georgia"/>
              </a:rPr>
              <a:t>Can an LLM help a privacy expert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B1E2A"/>
                </a:solidFill>
                <a:latin typeface="Georgia"/>
              </a:rPr>
              <a:t>do LINDDUN threat modeling?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C6270"/>
                </a:solidFill>
                <a:latin typeface="Calibri"/>
              </a:rPr>
              <a:t>Grounded, per-flow threat generation over LINDDUN Pro — with every citation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C6270"/>
                </a:solidFill>
                <a:latin typeface="Calibri"/>
              </a:rPr>
              <a:t>independently verified, not self-reported.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E2A"/>
                </a:solidFill>
                <a:latin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C6270"/>
                </a:solidFill>
                <a:latin typeface="Consolas"/>
              </a:rPr>
              <a:t>EVALUATION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931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E2A"/>
                </a:solidFill>
                <a:latin typeface="Georgia"/>
              </a:rPr>
              <a:t>140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526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C6270"/>
                </a:solidFill>
                <a:latin typeface="Consolas"/>
              </a:rPr>
              <a:t>GOLD-STANDARD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931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E2A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526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C6270"/>
                </a:solidFill>
                <a:latin typeface="Consolas"/>
              </a:rPr>
              <a:t>LIVE GENERATION RUNS, WEEKS 6–7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270"/>
                </a:solidFill>
                <a:latin typeface="Calibri"/>
              </a:rPr>
              <a:t>Pipeline mechanics  ·  evaluation methodology &amp; first real numbers  ·  scenario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 spc="80">
                <a:solidFill>
                  <a:srgbClr val="3452D9"/>
                </a:solidFill>
                <a:latin typeface="Consolas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From “regulation-grounded” to a broader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1E2A"/>
                </a:solidFill>
                <a:latin typeface="Georgia"/>
              </a:rPr>
              <a:t>Where this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270"/>
                </a:solidFill>
                <a:latin typeface="Consolas"/>
              </a:rPr>
              <a:t>Weeks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5720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B1E2A"/>
                </a:solidFill>
                <a:latin typeface="Calibri"/>
              </a:rPr>
              <a:t>Traceable, regulation-grounded privacy threat modeling — every threat citing a LINDDUN node, a DFD location, and a specific regulatory provision (COPPA, GDPR, HIPAA, GINA…), each independently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E6EAFB"/>
          </a:solidFill>
          <a:ln w="9525">
            <a:solidFill>
              <a:srgbClr val="345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1E2A"/>
                </a:solidFill>
                <a:latin typeface="Georgia"/>
              </a:rPr>
              <a:t>Where it is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270"/>
                </a:solidFill>
                <a:latin typeface="Consolas"/>
              </a:rPr>
              <a:t>Week 5 pivot, per advisor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4572000" cy="3017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1B1E2A"/>
                </a:solidFill>
                <a:latin typeface="Calibri"/>
              </a:rPr>
              <a:t>Regulatory-citation grounding dropped entirely. The question is broader and simpler: </a:t>
            </a:r>
            <a:r>
              <a:rPr sz="1300" b="1" i="0">
                <a:solidFill>
                  <a:srgbClr val="3452D9"/>
                </a:solidFill>
                <a:latin typeface="Calibri"/>
              </a:rPr>
              <a:t>can an LLM, grounded in the LINDDUN Pro methodology, help a privacy expert conduct a LINDDUN-based privacy risk analysis they can trust?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C6270"/>
                </a:solidFill>
                <a:latin typeface="Calibri"/>
              </a:rPr>
              <a:t>Traceability — a methodology-node citation and a DFD-location citation, both independently checked — stays central. It's the mechanism that makes “trust” checkable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PIPELINE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One target pipeline, two input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16550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DFD (provided)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16550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or source code — both converge on one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structured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99" y="233172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C62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1" y="182880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59" y="1938528"/>
            <a:ext cx="16550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Canonical DFD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59" y="2487168"/>
            <a:ext cx="16550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elements, flows, trust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0" y="233172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C62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1182" y="182880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0" y="1938528"/>
            <a:ext cx="16550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Per-interaction LINDDUN elicitation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0" y="2487168"/>
            <a:ext cx="16550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grounded in the knowledge base,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one flow at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1" y="233172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C627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1733" y="182880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1" y="1938528"/>
            <a:ext cx="16550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Cited threats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1" y="2487168"/>
            <a:ext cx="16550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tree-node + DFD-location citations,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independently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2" y="233172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C6270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4" y="182880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2" y="1938528"/>
            <a:ext cx="16550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Reviewed threat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2" y="2487168"/>
            <a:ext cx="16550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privacy expert verifies; scored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270"/>
                </a:solidFill>
                <a:latin typeface="Calibri"/>
              </a:rPr>
              <a:t>vs. gold where 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49039"/>
            <a:ext cx="350215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3192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1E2A"/>
                </a:solidFill>
                <a:latin typeface="Georgia"/>
              </a:rPr>
              <a:t>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1596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63440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LINDDUN Pro trees (51 nodes), the official 5-row mapping table, two scenario DFDs.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3749039"/>
            <a:ext cx="350215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93192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1E2A"/>
                </a:solidFill>
                <a:latin typeface="Georgia"/>
              </a:rPr>
              <a:t>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31596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663440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One LLM call per DFD flow, forced structured output, provider-agnostic (Azure / Anthropic / OpenAI).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0416" y="3749039"/>
            <a:ext cx="350215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393192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1E2A"/>
                </a:solidFill>
                <a:latin typeface="Georgia"/>
              </a:rPr>
              <a:t>Input front-end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431596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Not built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9016" y="4663440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Source-code → DFD synthesis — the largest remaining piece, and the research-hard 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PIPELINE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Grounded vs. ungrounded, mechanically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1E2A"/>
                </a:solidFill>
                <a:latin typeface="Calibri"/>
              </a:rPr>
              <a:t>Same LLM, same forced schema, same independent verifier downstream. The only difference is what the model is told before it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6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3452D9"/>
                </a:solidFill>
                <a:latin typeface="Consolas"/>
              </a:rPr>
              <a:t>GROUNDED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120640" cy="960120"/>
          </a:xfrm>
          <a:prstGeom prst="roundRect">
            <a:avLst>
              <a:gd name="adj" fmla="val 4000"/>
            </a:avLst>
          </a:prstGeom>
          <a:solidFill>
            <a:srgbClr val="F7E2E0"/>
          </a:solidFill>
          <a:ln w="9525">
            <a:solidFill>
              <a:srgbClr val="C0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Mapping-table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6270"/>
                </a:solidFill>
                <a:latin typeface="Calibri"/>
              </a:rPr>
              <a:t>is (src type → dst type) one of 5 valid Process-mediated rows?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5120640" cy="1234440"/>
          </a:xfrm>
          <a:prstGeom prst="roundRect">
            <a:avLst>
              <a:gd name="adj" fmla="val 4000"/>
            </a:avLst>
          </a:prstGeom>
          <a:solidFill>
            <a:srgbClr val="E6EAFB"/>
          </a:solidFill>
          <a:ln w="9525">
            <a:solidFill>
              <a:srgbClr val="345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3075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Prompt = flow text + applicable types + full tree-node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6270"/>
                </a:solidFill>
                <a:latin typeface="Calibri"/>
              </a:rPr>
              <a:t>explicit, inlined methodology context — model picks only from what's listed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488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A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DB8A2E"/>
                </a:solidFill>
                <a:latin typeface="Consolas"/>
              </a:rPr>
              <a:t>UNGROUNDED (ablation)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560320"/>
            <a:ext cx="51206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C6270"/>
                </a:solidFill>
                <a:latin typeface="Calibri"/>
              </a:rPr>
              <a:t>No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6270"/>
                </a:solidFill>
                <a:latin typeface="Calibri"/>
              </a:rPr>
              <a:t>every flow gets a call, nothing is ever skipped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11880"/>
            <a:ext cx="5120640" cy="1234440"/>
          </a:xfrm>
          <a:prstGeom prst="roundRect">
            <a:avLst>
              <a:gd name="adj" fmla="val 4000"/>
            </a:avLst>
          </a:prstGeom>
          <a:solidFill>
            <a:srgbClr val="FAEEDC"/>
          </a:solidFill>
          <a:ln w="9525">
            <a:solidFill>
              <a:srgbClr val="DB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73075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1E2A"/>
                </a:solidFill>
                <a:latin typeface="Calibri"/>
              </a:rPr>
              <a:t>Prompt = flow text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6270"/>
                </a:solidFill>
                <a:latin typeface="Calibri"/>
              </a:rPr>
              <a:t>no mapping table, no tree nodes — model free-associates from training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698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5C6270"/>
                </a:solidFill>
                <a:latin typeface="Calibri"/>
              </a:rPr>
              <a:t>A flow that fails the gate is </a:t>
            </a:r>
            <a:r>
              <a:rPr sz="1150" b="1" i="0">
                <a:solidFill>
                  <a:srgbClr val="C0433B"/>
                </a:solidFill>
                <a:latin typeface="Calibri"/>
              </a:rPr>
              <a:t>never sent to the LLM</a:t>
            </a:r>
            <a:r>
              <a:rPr sz="1150" b="0" i="0">
                <a:solidFill>
                  <a:srgbClr val="5C6270"/>
                </a:solidFill>
                <a:latin typeface="Calibri"/>
              </a:rPr>
              <a:t> in grounded mode — not a low-quality answer, no call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PIPELINE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3 / 3 — REAL EXAMPLE, FLOW DF1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i="0">
                <a:solidFill>
                  <a:srgbClr val="1B1E2A"/>
                </a:solidFill>
                <a:latin typeface="Georgia"/>
              </a:rPr>
              <a:t>Same flow, two very different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3452D9"/>
                </a:solidFill>
                <a:latin typeface="Consolas"/>
              </a:rPr>
              <a:t>GROUNDED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212080" cy="4206240"/>
          </a:xfrm>
          <a:prstGeom prst="rect">
            <a:avLst/>
          </a:prstGeom>
          <a:solidFill>
            <a:srgbClr val="ECEEF3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Flow DF1: Parent User (ExternalEntity) -&gt;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Authentication Service (Process)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Flow description: parent registration (email,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password, name, govt ID, code)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Interaction: ExternalEntity -&gt; data flow -&gt; Process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Applicable LINDDUN types: L, I, Nr, D, Dd, U, Nc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Relevant threat-tree nodes to consider: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L.1.1 — Unique identifier: ...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Dd.1.1 — Data type sensitivity: ...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Nc.1.1 — Unlawful processing or disclosure: ...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... 51 nodes total for this interaction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tree_node must be one of the node ids listed above.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A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DB8A2E"/>
                </a:solidFill>
                <a:latin typeface="Consolas"/>
              </a:rPr>
              <a:t>UNGROUNDED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5212080" cy="4206240"/>
          </a:xfrm>
          <a:prstGeom prst="rect">
            <a:avLst/>
          </a:prstGeom>
          <a:solidFill>
            <a:srgbClr val="ECEEF3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Flow DF1: Parent User (ExternalEntity) -&gt;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Authentication Service (Process)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Flow description: parent registration (email,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 password, name, govt ID, code)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Identify any privacy threats for this flow. For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each, classify it under a LINDDUN type (L, I, Nr,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D, Dd, U, Nc) and give your best LINDDUN Pro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threat-tree node id.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(no reference material provided —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E2A"/>
                </a:solidFill>
                <a:latin typeface="Consolas"/>
              </a:rPr>
              <a:t> model relies entirely on training knowledge)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 spc="80">
                <a:solidFill>
                  <a:srgbClr val="3452D9"/>
                </a:solidFill>
                <a:latin typeface="Consolas"/>
              </a:rP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Every citation is checked, not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698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 i="0">
                <a:solidFill>
                  <a:srgbClr val="1B1E2A"/>
                </a:solidFill>
                <a:latin typeface="Consolas"/>
              </a:rPr>
              <a:t>generation/verify.py</a:t>
            </a:r>
            <a:r>
              <a:rPr sz="1250" b="0" i="0">
                <a:solidFill>
                  <a:srgbClr val="1B1E2A"/>
                </a:solidFill>
                <a:latin typeface="Calibri"/>
              </a:rPr>
              <a:t> re-derives ground truth from the knowledge base files directly — a retrieval bug or a fabricated citation can't slip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021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52D9"/>
                </a:solidFill>
                <a:latin typeface="Consolas"/>
              </a:rPr>
              <a:t>node_valid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Does tree_node actually exist under the claimed threat_type in threat_trees.json?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2286000"/>
            <a:ext cx="35021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4688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52D9"/>
                </a:solidFill>
                <a:latin typeface="Consolas"/>
              </a:rPr>
              <a:t>type_applicable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880360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Is that threat type genuinely applicable at this flow's interaction, per the mapping table?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2286000"/>
            <a:ext cx="35021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4688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52D9"/>
                </a:solidFill>
                <a:latin typeface="Consolas"/>
              </a:rPr>
              <a:t>location_valid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880360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Does originator_id resolve to a real element or flow endpoint in dfd.json?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C6270"/>
                </a:solidFill>
                <a:latin typeface="Calibri"/>
              </a:rPr>
              <a:t>A third citation type — a specific regulatory provision (COPPA §312.5, HIPAA §164…) — existed through Week 4 and was dropped in the Week 5 pivot. These two remain.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 spc="80">
                <a:solidFill>
                  <a:srgbClr val="3452D9"/>
                </a:solidFill>
                <a:latin typeface="Consola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Matching, then three ways of reading a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1E2A"/>
                </a:solidFill>
                <a:latin typeface="Georgia"/>
              </a:rPr>
              <a:t>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eval/match.py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1E2A"/>
                </a:solidFill>
                <a:latin typeface="Calibri"/>
              </a:rPr>
              <a:t>Greedy, one-to-one: same threat_type, and the same flow — by flow-id string (KidsTube) or by (source, destination) location (Genomic). --strict also requires the exact tree node.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1E2A"/>
                </a:solidFill>
                <a:latin typeface="Georgia"/>
              </a:rPr>
              <a:t>Reachability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eval/reachability.py — new,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Every unmatched gold threat is classified, not just counted as a miss: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40"/>
            <a:ext cx="4480560" cy="292608"/>
          </a:xfrm>
          <a:prstGeom prst="roundRect">
            <a:avLst>
              <a:gd name="adj" fmla="val 50000"/>
            </a:avLst>
          </a:prstGeom>
          <a:solidFill>
            <a:srgbClr val="E6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3452D9"/>
                </a:solidFill>
                <a:latin typeface="Consolas"/>
              </a:rPr>
              <a:t>reachable_but_missed — a real recall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56432"/>
            <a:ext cx="4480560" cy="292608"/>
          </a:xfrm>
          <a:prstGeom prst="roundRect">
            <a:avLst>
              <a:gd name="adj" fmla="val 50000"/>
            </a:avLst>
          </a:prstGeom>
          <a:solidFill>
            <a:srgbClr val="F7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C0433B"/>
                </a:solidFill>
                <a:latin typeface="Consolas"/>
              </a:rPr>
              <a:t>structurally_unreachable — skipped before any LLM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49624"/>
            <a:ext cx="4480560" cy="292608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5C6270"/>
                </a:solidFill>
                <a:latin typeface="Consolas"/>
              </a:rPr>
              <a:t>unresolved_location — no single flow to anchor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C6270"/>
                </a:solidFill>
                <a:latin typeface="Calibri"/>
              </a:rPr>
              <a:t>Reuses generate.py's own gate check — so “unreachable” here can't drift from what the pipeline actually skips.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WEEK 6–7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FIRST-EVER LIVE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i="0">
                <a:solidFill>
                  <a:srgbClr val="1B1E2A"/>
                </a:solidFill>
                <a:latin typeface="Georgia"/>
              </a:rPr>
              <a:t>Four runs, both scenarios, both modes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982980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Run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n gen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F1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Citation ✓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Recall, adj.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KidsTube — grounded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130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33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97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8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.80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.39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.80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KidsTube — ungrounded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113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28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85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13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.68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.36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0.95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.68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Genomic — grounded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193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45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148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54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.23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.45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.31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.64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Genomic — ungrounded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249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67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182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32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.27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.68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.39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0.79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.77</a:t>
                      </a:r>
                    </a:p>
                  </a:txBody>
                  <a:tcPr anchor="ctr" marL="76200" marR="76200">
                    <a:solidFill>
                      <a:srgbClr val="FAEED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97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KidsTube numbers are Week 7's re-score against the corrected 41-threat gold standard (see Finding 3) — same generated output as Week 6, fairer scoring. Precision still reads low (.23–.27) — both gold standards are curated catalogs, not exhaustive ground truth, so an unmatched generated threat may be a real miss or a real threat the gold standard simply didn't itemize.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WEEK 6-7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PER-CATEGORY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1" i="0">
                <a:solidFill>
                  <a:srgbClr val="1B1E2A"/>
                </a:solidFill>
                <a:latin typeface="Georgia"/>
              </a:rPr>
              <a:t>KidsTube, by LINDDUN category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3452D9"/>
                </a:solidFill>
                <a:latin typeface="Consolas"/>
              </a:rPr>
              <a:t>GROUNDED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491947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Type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F1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.52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I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.80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Nr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.50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.73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U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Nc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.71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ALL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.80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6480" y="1600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A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DB8A2E"/>
                </a:solidFill>
                <a:latin typeface="Consolas"/>
              </a:rPr>
              <a:t>UNGROUNDED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65960"/>
          <a:ext cx="491947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Type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F1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.83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I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.80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Nr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.55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U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Nc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.71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ALL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85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5778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C6270"/>
                </a:solidFill>
                <a:latin typeface="Calibri"/>
              </a:rPr>
              <a:t>* Non-compliance and Unawareness — flagged as hardest to automate (see the results-table slide's report format).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WEEK 6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PER-CATEGORY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1" i="0">
                <a:solidFill>
                  <a:srgbClr val="1B1E2A"/>
                </a:solidFill>
                <a:latin typeface="Georgia"/>
              </a:rPr>
              <a:t>Genomic, by LINDDUN category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3452D9"/>
                </a:solidFill>
                <a:latin typeface="Consolas"/>
              </a:rPr>
              <a:t>GROUNDED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491947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Type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F1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.55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.59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I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Nr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.06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.07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U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Nc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ALL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148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6480" y="1600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A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DB8A2E"/>
                </a:solidFill>
                <a:latin typeface="Consolas"/>
              </a:rPr>
              <a:t>UNGROUNDED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65960"/>
          <a:ext cx="491947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Type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TP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P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F1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I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.71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Nr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1.00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Dd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.31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.44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U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.45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.46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Nc *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33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.17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.78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ALL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67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182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32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.27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.68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.39</a:t>
                      </a:r>
                    </a:p>
                  </a:txBody>
                  <a:tcPr anchor="ctr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5778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C6270"/>
                </a:solidFill>
                <a:latin typeface="Calibri"/>
              </a:rPr>
              <a:t>* Non-compliance and Unawareness — flagged as hardest to automate. Nr (Non-repudiation) stands out grounded-side: 1 TP / 9 FN — the smallest, hardest category in this scenario.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FINDING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Grounding still measurably improves citation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A"/>
                </a:solidFill>
                <a:latin typeface="Calibri"/>
              </a:rPr>
              <a:t>Even with regulatory citations gone, the same pattern from Week 4 shows up in what remains: type_applicable_rate — is the asserted LINDDUN type actually valid at this interaction?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Genomic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grounded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506980"/>
            <a:ext cx="6309360" cy="201168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2506980"/>
            <a:ext cx="6309360" cy="201168"/>
          </a:xfrm>
          <a:prstGeom prst="roundRect">
            <a:avLst>
              <a:gd name="adj" fmla="val 50000"/>
            </a:avLst>
          </a:prstGeom>
          <a:solidFill>
            <a:srgbClr val="345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24688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1E2A"/>
                </a:solidFill>
                <a:latin typeface="Consolas"/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Genomic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ungrounded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101340"/>
            <a:ext cx="6309360" cy="201168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3101340"/>
            <a:ext cx="5236768" cy="201168"/>
          </a:xfrm>
          <a:prstGeom prst="roundRect">
            <a:avLst>
              <a:gd name="adj" fmla="val 50000"/>
            </a:avLst>
          </a:prstGeom>
          <a:solidFill>
            <a:srgbClr val="DB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306324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1E2A"/>
                </a:solidFill>
                <a:latin typeface="Consolas"/>
              </a:rPr>
              <a:t>0.83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270"/>
                </a:solidFill>
                <a:latin typeface="Calibri"/>
              </a:rPr>
              <a:t>17% of the time, ungrounded asserts a type the mapping table says doesn't apply there — it has nothing telling it otherwise, so it guesses something plausible-sounding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FINDING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2 OF 3 — NEW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Grounding trades recall for that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A"/>
                </a:solidFill>
                <a:latin typeface="Calibri"/>
              </a:rPr>
              <a:t>Genomic grounded skips 6 of 39 flows outright — the mapping table says no Process mediates, so the LLM is never called. Ungrounded skips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structurally unreachable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grounded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689860"/>
            <a:ext cx="6309360" cy="201168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2689860"/>
            <a:ext cx="6309360" cy="201168"/>
          </a:xfrm>
          <a:prstGeom prst="roundRect">
            <a:avLst>
              <a:gd name="adj" fmla="val 50000"/>
            </a:avLst>
          </a:prstGeom>
          <a:solidFill>
            <a:srgbClr val="C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265176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1E2A"/>
                </a:solidFill>
                <a:latin typeface="Consola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structurally unreachable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ungrounded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375660"/>
            <a:ext cx="6309360" cy="201168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3375660"/>
            <a:ext cx="2336800" cy="201168"/>
          </a:xfrm>
          <a:prstGeom prst="roundRect">
            <a:avLst>
              <a:gd name="adj" fmla="val 50000"/>
            </a:avLst>
          </a:prstGeom>
          <a:solidFill>
            <a:srgbClr val="C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333756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1E2A"/>
                </a:solidFill>
                <a:latin typeface="Consolas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270"/>
                </a:solidFill>
                <a:latin typeface="Calibri"/>
              </a:rPr>
              <a:t>Ungrounded still gets queried on those 6 flows and coincidentally matches 17 of the 27 gold threats sitting there. Not better reasoning — just no gate stopping it from trying.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C6270"/>
                </a:solidFill>
                <a:latin typeface="Consolas"/>
              </a:rPr>
              <a:t>  FINDING  </a:t>
            </a:r>
            <a:r>
              <a:rPr sz="1000" b="1" spc="80">
                <a:solidFill>
                  <a:srgbClr val="3452D9"/>
                </a:solidFill>
                <a:latin typeface="Consolas"/>
              </a:rPr>
              <a:t>   3 OF 3 — FOUND WEEK 6, RESOLVED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i="0">
                <a:solidFill>
                  <a:srgbClr val="1B1E2A"/>
                </a:solidFill>
                <a:latin typeface="Georgia"/>
              </a:rPr>
              <a:t>KidsTube's hidden ceiling — found, then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1E2A"/>
                </a:solidFill>
                <a:latin typeface="Calibri"/>
              </a:rPr>
              <a:t>4 of KidsTube's original 36 gold threats described something spanning more than one flow at once — structurally unmatchable by a per-flow pipeline, invisible until eval was run for the first time.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80"/>
          <a:ext cx="667512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237744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Gold #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Spanned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C6270"/>
                          </a:solidFill>
                          <a:latin typeface="Consolas"/>
                        </a:defRPr>
                      </a:pPr>
                      <a:r>
                        <a:t>Resolution</a:t>
                      </a:r>
                    </a:p>
                  </a:txBody>
                  <a:tcPr anchor="ctr" marL="76200" marR="76200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 marL="76200" marR="76200">
                    <a:solidFill>
                      <a:srgbClr val="F7E2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 flows, DS2 profile</a:t>
                      </a:r>
                    </a:p>
                  </a:txBody>
                  <a:tcPr anchor="ctr" marL="76200" marR="76200">
                    <a:solidFill>
                      <a:srgbClr val="F7E2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duplicated — combination is the risk</a:t>
                      </a:r>
                    </a:p>
                  </a:txBody>
                  <a:tcPr anchor="ctr" marL="76200" marR="76200">
                    <a:solidFill>
                      <a:srgbClr val="F7E2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18</a:t>
                      </a:r>
                    </a:p>
                  </a:txBody>
                  <a:tcPr anchor="ctr" marL="76200" marR="76200">
                    <a:solidFill>
                      <a:srgbClr val="F7E2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 flows, platform-wide</a:t>
                      </a:r>
                    </a:p>
                  </a:txBody>
                  <a:tcPr anchor="ctr" marL="76200" marR="76200">
                    <a:solidFill>
                      <a:srgbClr val="F7E2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duplicated — combination is the risk</a:t>
                      </a:r>
                    </a:p>
                  </a:txBody>
                  <a:tcPr anchor="ctr" marL="76200" marR="76200">
                    <a:solidFill>
                      <a:srgbClr val="F7E2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21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 flows, JWT to each party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split clean — same defect, independently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29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3 flows, 3 stores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B1E2A"/>
                          </a:solidFill>
                          <a:latin typeface="Consolas"/>
                        </a:defRPr>
                      </a:pPr>
                      <a:r>
                        <a:t>split clean — same defect, independently</a:t>
                      </a:r>
                    </a:p>
                  </a:txBody>
                  <a:tcPr anchor="ctr" marL="76200" marR="76200">
                    <a:solidFill>
                      <a:srgbClr val="E6EA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224028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ECEEF3"/>
          </a:solidFill>
          <a:ln w="9525">
            <a:solidFill>
              <a:srgbClr val="DD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423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1E2A"/>
                </a:solidFill>
                <a:latin typeface="Georgia"/>
              </a:rPr>
              <a:t>36 → 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880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5C6270"/>
                </a:solidFill>
                <a:latin typeface="Consolas"/>
              </a:rPr>
              <a:t>GOLD THREATS (NET +5)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1E2A"/>
                </a:solidFill>
                <a:latin typeface="Georgia"/>
              </a:rPr>
              <a:t>.69 → 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5C6270"/>
                </a:solidFill>
                <a:latin typeface="Consolas"/>
              </a:rPr>
              <a:t>GROUNDED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Not a uniform fix. #21/#29's flows each independently carry the identical vulnerability — splitting loses nothing. #10/#18's own descriptions say the risk is the combination across flows — so those were duplicated onto each contributing flow rather than forced into one, accepting a documented double-counting trade-off instead of fabricating weaker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 spc="80">
                <a:solidFill>
                  <a:srgbClr val="3452D9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Next: 2–3 new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1E2A"/>
                </a:solidFill>
                <a:latin typeface="Calibri"/>
              </a:rPr>
              <a:t>Beyond KidsTube (real code) and Genomic (authoritative external source) — a deliberate mix of both sourcing styles.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270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1E2A"/>
                </a:solidFill>
                <a:latin typeface="Georgia"/>
              </a:rPr>
              <a:t>Nextcloud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12140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6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3452D9"/>
                </a:solidFill>
                <a:latin typeface="Consolas"/>
              </a:rPr>
              <a:t>code · build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File-sharing + federation subsystem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Real open-source PHP codebase; federated sharing exercises the code→DFD differentiator and diversifies interaction types past Genomic's EE↔EE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270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546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1E2A"/>
                </a:solidFill>
                <a:latin typeface="Georgia"/>
              </a:rPr>
              <a:t>LINDDUN Pro Tutorial's worked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17296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5C6270"/>
                </a:solidFill>
                <a:latin typeface="Consolas"/>
              </a:rPr>
              <a:t>needs feasibility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021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Methodology-authoritative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Same source PDF as threat_trees.json — if a full worked example exists, guaranteed-compatible node IDs, cheapest to transcribe.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27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1E2A"/>
                </a:solidFill>
                <a:latin typeface="Georgia"/>
              </a:rPr>
              <a:t>NIST PRAM published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422452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5C6270"/>
                </a:solidFill>
                <a:latin typeface="Consolas"/>
              </a:rPr>
              <a:t>external authoritative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537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usnistgov/PrivacyEngCollabSpace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4632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Government-authored, different domain — needs a remapping effort similar to Genomic's 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270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578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1E2A"/>
                </a:solidFill>
                <a:latin typeface="Georgia"/>
              </a:rPr>
              <a:t>Mastodon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527608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A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 wrap="none"/>
          <a:lstStyle/>
          <a:p>
            <a:pPr algn="ctr"/>
            <a:r>
              <a:rPr sz="1000" b="1">
                <a:solidFill>
                  <a:srgbClr val="DB8A2E"/>
                </a:solidFill>
                <a:latin typeface="Consolas"/>
              </a:rPr>
              <a:t>stretch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052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270"/>
                </a:solidFill>
                <a:latin typeface="Consolas"/>
              </a:rPr>
              <a:t>ActivityPub federation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9788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E2A"/>
                </a:solidFill>
                <a:latin typeface="Calibri"/>
              </a:rPr>
              <a:t>Cross-instance flows stress-test EE↔EE further, once there's practice from Nextcloud.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 spc="80">
                <a:solidFill>
                  <a:srgbClr val="3452D9"/>
                </a:solidFill>
                <a:latin typeface="Consolas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B1E2A"/>
                </a:solidFill>
                <a:latin typeface="Georgia"/>
              </a:rPr>
              <a:t>Where things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1E2A"/>
                </a:solidFill>
                <a:latin typeface="Georgia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Regulatory-citation grounding fully removed; research question reframed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Reachability-status tooling built and validated against the published 70/27/2 genomic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First-ever live generate + eval runs, both scenarios, grounded and ungrounded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KidsTube's multi-flow gold-standard gap diagnosed and resolved (36 → 41 threats, 41/41 reachable)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1E2A"/>
                </a:solidFill>
                <a:latin typeface="Georgia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4884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effective_type internal-staff reclassification — still pending advisor sign-off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92608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The #10/#18 duplicate-scoring decision — needs sign-off before citing 41/41 in the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0332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Manual spot-check of “false positive” generated threats — precision numbers need this caveat resolved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480560"/>
            <a:ext cx="228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E2A"/>
                </a:solidFill>
                <a:latin typeface="Calibri"/>
              </a:rPr>
              <a:t>Nextcloud scenario — not yet 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270"/>
                </a:solidFill>
                <a:latin typeface="Consolas"/>
              </a:rPr>
              <a:t>Full detail: PIPELINE.md · WEEK5–7_REPORT.md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